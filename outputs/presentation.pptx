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"When Do Simple Text Models
Beat Transformers?"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51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EE"/>
                </a:solidFill>
              </a:rPr>
              <a:t>A systematic comparison of TF-IDF / n-grams / topic models
vs RNN / CNN / Transformers across low-resource,
domain shift, and robustness tests.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297680"/>
            <a:ext cx="114300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CS 584-B  ·  Spring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4434840"/>
            <a:ext cx="228600" cy="20116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4453127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Classical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4434840"/>
            <a:ext cx="228600" cy="201168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4453127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Neural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4434840"/>
            <a:ext cx="228600" cy="201168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48088" y="4453127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0292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F77B4"/>
                </a:solidFill>
              </a:rPr>
              <a:t>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F77B4"/>
                </a:solidFill>
              </a:rPr>
              <a:t>Simple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5166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</a:rPr>
              <a:t>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120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A02C"/>
                </a:solidFill>
              </a:rPr>
              <a:t>Transformer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0"/>
            <a:ext cx="11640312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Motivation &amp; Core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Why question the Transformer default?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1">
                <a:solidFill>
                  <a:srgbClr val="FFD700"/>
                </a:solidFill>
              </a:rPr>
              <a:t>"Transformers dominate NLP benchmarks — but are they always worth it?"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3749039" cy="2468880"/>
          </a:xfrm>
          <a:prstGeom prst="rect">
            <a:avLst/>
          </a:prstGeom>
          <a:solidFill>
            <a:srgbClr val="1A3A5C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77B4"/>
                </a:solidFill>
              </a:rPr>
              <a:t>💰  Resource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BERT-base has 110M parameters.
Fine-tuning requires significant GPU memory &amp;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65960"/>
            <a:ext cx="3749039" cy="2468880"/>
          </a:xfrm>
          <a:prstGeom prst="rect">
            <a:avLst/>
          </a:prstGeom>
          <a:solidFill>
            <a:srgbClr val="1A3A5C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F0E"/>
                </a:solidFill>
              </a:rPr>
              <a:t>⚡ 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Do transformers hold up under noisy text,
typos, or domain shift?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965960"/>
            <a:ext cx="3749039" cy="2468880"/>
          </a:xfrm>
          <a:prstGeom prst="rect">
            <a:avLst/>
          </a:prstGeom>
          <a:solidFill>
            <a:srgbClr val="1A3A5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A02C"/>
                </a:solidFill>
              </a:rPr>
              <a:t>🔍  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6060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Can you trust or debug the output?
Attention ≠ explanation.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594360"/>
          </a:xfrm>
          <a:prstGeom prst="rect">
            <a:avLst/>
          </a:prstGeom>
          <a:solidFill>
            <a:srgbClr val="0A3055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36592"/>
            <a:ext cx="11247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700"/>
                </a:solidFill>
              </a:rPr>
              <a:t>🎯  Core Question:  Under what conditions do classical methods beat transformers?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99AA"/>
                </a:solidFill>
              </a:rPr>
              <a:t>Model Family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A02C"/>
                </a:solidFill>
              </a:rPr>
              <a:t>High Accuracy
Low Interpretability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77B4"/>
                </a:solidFill>
              </a:rPr>
              <a:t>High Accuracy
High Interpretability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6400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Low Accuracy
Low Interpretability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400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7F0E"/>
                </a:solidFill>
              </a:rPr>
              <a:t>Low Accuracy
High Interpretability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0"/>
            <a:ext cx="11640312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Task · Datasets · Model Ladder · Evaluation Axes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57600" cy="2651760"/>
          </a:xfrm>
          <a:prstGeom prst="rect">
            <a:avLst/>
          </a:prstGeom>
          <a:solidFill>
            <a:srgbClr val="1A3A5C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070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77B4"/>
                </a:solidFill>
              </a:rPr>
              <a:t>📦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783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Amazon Reviews
(train)
IMDb / Yelp
(OOD test)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3657600" cy="2651760"/>
          </a:xfrm>
          <a:prstGeom prst="rect">
            <a:avLst/>
          </a:prstGeom>
          <a:solidFill>
            <a:srgbClr val="1A3A5C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2070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F0E"/>
                </a:solidFill>
              </a:rPr>
              <a:t>🤖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783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TF-IDF+LR → NGram+NB
→ GloVe+LR → CNN
→ BiLSTM → DistilBERT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43000"/>
            <a:ext cx="3657600" cy="2651760"/>
          </a:xfrm>
          <a:prstGeom prst="rect">
            <a:avLst/>
          </a:prstGeom>
          <a:solidFill>
            <a:srgbClr val="1A3A5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2070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A02C"/>
                </a:solidFill>
              </a:rPr>
              <a:t>📊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1783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Data Regime
Domain Shift
Robustness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11457432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99AA"/>
                </a:solidFill>
              </a:rPr>
              <a:t>Model Ladder  (simple → complex)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663440"/>
            <a:ext cx="1234440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470916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TF-IDF
+LR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4663440"/>
            <a:ext cx="1234440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470916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NGram
+SVM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4663440"/>
            <a:ext cx="1234440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470916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LDA/NMF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4663440"/>
            <a:ext cx="1234440" cy="822960"/>
          </a:xfrm>
          <a:prstGeom prst="rect">
            <a:avLst/>
          </a:prstGeom>
          <a:solidFill>
            <a:srgbClr val="8C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916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GloVe
+LR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4663440"/>
            <a:ext cx="1234440" cy="8229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59" y="470916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CNN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4663440"/>
            <a:ext cx="1234440" cy="8229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59" y="470916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BiLSTM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4663440"/>
            <a:ext cx="1234440" cy="8229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470916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DistilBERT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21240" y="4663440"/>
            <a:ext cx="1234440" cy="8229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470916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BERT-base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6692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────────────────────────────────────────►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9893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Simpler                                                            More complex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0"/>
            <a:ext cx="11640312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Experiment 1: Data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How does performance scale with labeled data?</a:t>
            </a:r>
          </a:p>
        </p:txBody>
      </p:sp>
      <p:pic>
        <p:nvPicPr>
          <p:cNvPr id="5" name="Picture 4" descr="data_regime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097280"/>
            <a:ext cx="3749039" cy="4754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77B4"/>
                </a:solidFill>
              </a:rPr>
              <a:t>Key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77B4"/>
                </a:solidFill>
              </a:rPr>
              <a:t>  TF-IDF+LR: F1=1.00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48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77B4"/>
                </a:solidFill>
              </a:rPr>
              <a:t>  NGram+SVM: F1=1.00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606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7F0E"/>
                </a:solidFill>
              </a:rPr>
              <a:t>  GloVe+LR:  F1=0.41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063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7F0E"/>
                </a:solidFill>
              </a:rPr>
              <a:t>  CNN:       F1=1.00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7F0E"/>
                </a:solidFill>
              </a:rPr>
              <a:t>  BiLSTM:    F1=0.41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9776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A02C"/>
                </a:solidFill>
              </a:rPr>
              <a:t>  DistilBERT:F1=1.00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989320"/>
            <a:ext cx="11612880" cy="731520"/>
          </a:xfrm>
          <a:prstGeom prst="rect">
            <a:avLst/>
          </a:prstGeom>
          <a:solidFill>
            <a:srgbClr val="0A3055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062472"/>
            <a:ext cx="11430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💡  At 10% data, TF-IDF+LR matches DistilBERT (F1 = 1.00)
    while training ~190× faster (0.007 s vs 1.33 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0"/>
            <a:ext cx="11640312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Experiment 2: Domain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Train on Amazon Reviews → Test on IMDb (out-of-domain)</a:t>
            </a:r>
          </a:p>
        </p:txBody>
      </p:sp>
      <p:pic>
        <p:nvPicPr>
          <p:cNvPr id="5" name="Picture 4" descr="domain_shift_dro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23760" y="1097280"/>
            <a:ext cx="4663440" cy="4754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188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7B4"/>
                </a:solidFill>
              </a:rPr>
              <a:t>Accuracy Drop  (in → out)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77B4"/>
                </a:solidFill>
              </a:rPr>
              <a:t>TFIDF_LR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1.00 → 0.92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1691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EE"/>
                </a:solidFill>
              </a:rPr>
              <a:t>-8.5%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77B4"/>
                </a:solidFill>
              </a:rPr>
              <a:t>NGram_SVM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1.00 → 0.92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EE"/>
                </a:solidFill>
              </a:rPr>
              <a:t>-8.0%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88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56A0"/>
                </a:solidFill>
              </a:rPr>
              <a:t>GloVe_LR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0.52 → 0.50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880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EE"/>
                </a:solidFill>
              </a:rPr>
              <a:t>-2.0%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0E"/>
                </a:solidFill>
              </a:rPr>
              <a:t>CNNText_GloVe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1.00 → 0.68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-32.5%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0E"/>
                </a:solidFill>
              </a:rPr>
              <a:t>BiLSTM_GloVe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0.52 → 0.50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4069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EE"/>
                </a:solidFill>
              </a:rPr>
              <a:t>-2.0%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A02C"/>
                </a:solidFill>
              </a:rPr>
              <a:t>DistilBERT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1.00 → 0.63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-37.5%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89320"/>
            <a:ext cx="11612880" cy="731520"/>
          </a:xfrm>
          <a:prstGeom prst="rect">
            <a:avLst/>
          </a:prstGeom>
          <a:solidFill>
            <a:srgbClr val="0A3055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062472"/>
            <a:ext cx="11430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💡  Best in-domain ≠ most robust. DistilBERT drops 37.5% out-of-domain.
    TF-IDF+LR drops only 8.5% — far more reliable under distribution shift.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0"/>
            <a:ext cx="11640312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Experiment 3: Robustness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How brittle are models to controlled perturbations?</a:t>
            </a:r>
          </a:p>
        </p:txBody>
      </p:sp>
      <p:pic>
        <p:nvPicPr>
          <p:cNvPr id="5" name="Picture 4" descr="robustness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097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7B4"/>
                </a:solidFill>
              </a:rPr>
              <a:t>Word-Shuffle Robustness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00200"/>
            <a:ext cx="1124712" cy="418011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618488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1600200"/>
            <a:ext cx="1124712" cy="418011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18488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600200"/>
            <a:ext cx="1124712" cy="418011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1618488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Shuffled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35640" y="1600200"/>
            <a:ext cx="1124712" cy="418011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1618488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Drop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018211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036499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TFIDF_LR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018211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036499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018211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036499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35640" y="2018211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2036499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436222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454510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NGram_SVM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49640" y="2436222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2454510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436222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2454510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35640" y="2436222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2454510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854234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2872522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GloVe_LR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2854234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2872522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0.52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2854234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2872522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0.52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35640" y="2854234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81360" y="2872522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272245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3290533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CNN_GloVe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9640" y="3272245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3290533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3272245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60" y="3290533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35640" y="3272245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81360" y="3290533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3690257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3708545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BiLSTM_GloVe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9640" y="3690257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0" y="3708545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0.52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3690257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38360" y="3708545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0.52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35640" y="3690257"/>
            <a:ext cx="1124712" cy="418011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1360" y="3708545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4108268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4126556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DistilBERT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49640" y="4108268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0" y="4126556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92640" y="4108268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38360" y="4126556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35640" y="4108268"/>
            <a:ext cx="1124712" cy="41801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81360" y="4126556"/>
            <a:ext cx="1051560" cy="38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5%</a:t>
            </a:r>
          </a:p>
        </p:txBody>
      </p:sp>
      <p:pic>
        <p:nvPicPr>
          <p:cNvPr id="63" name="Picture 62" descr="robustness_degradation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709160"/>
            <a:ext cx="7132320" cy="201168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7406640" y="4754880"/>
            <a:ext cx="4572000" cy="1051560"/>
          </a:xfrm>
          <a:prstGeom prst="rect">
            <a:avLst/>
          </a:prstGeom>
          <a:solidFill>
            <a:srgbClr val="0A3055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79" y="4828032"/>
            <a:ext cx="438912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</a:rPr>
              <a:t>💡  TF-IDF stable under word shuffle (bag-of-words by design).
    CNN &amp; DistilBERT degrade under both shuffle &amp; lexical noise.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0"/>
            <a:ext cx="11640312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Efficiency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What does performance cost?</a:t>
            </a:r>
          </a:p>
        </p:txBody>
      </p:sp>
      <p:pic>
        <p:nvPicPr>
          <p:cNvPr id="5" name="Picture 4" descr="tim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097280"/>
            <a:ext cx="3749039" cy="4754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7B4"/>
                </a:solidFill>
              </a:rPr>
              <a:t>Training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3474720" cy="457200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691640"/>
            <a:ext cx="15881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7099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TFIDF_LR  0.007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194560"/>
            <a:ext cx="3474720" cy="457200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2240280"/>
            <a:ext cx="22688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585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NGram_SVM  0.010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743200"/>
            <a:ext cx="3474720" cy="457200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788920"/>
            <a:ext cx="6806" cy="347472"/>
          </a:xfrm>
          <a:prstGeom prst="rect">
            <a:avLst/>
          </a:prstGeom>
          <a:solidFill>
            <a:srgbClr val="8C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807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GloVe_LR  0.003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291839"/>
            <a:ext cx="3474720" cy="457200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3337560"/>
            <a:ext cx="862148" cy="347472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3558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CNNText_GloVe  0.38 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840480"/>
            <a:ext cx="3474720" cy="457200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3886200"/>
            <a:ext cx="635267" cy="347472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904487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BiLSTM_GloVe  0.28 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4389120"/>
            <a:ext cx="3474720" cy="457200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4434840"/>
            <a:ext cx="3017520" cy="347472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4531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DistilBERT  1.33 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89320"/>
            <a:ext cx="11612880" cy="731520"/>
          </a:xfrm>
          <a:prstGeom prst="rect">
            <a:avLst/>
          </a:prstGeom>
          <a:solidFill>
            <a:srgbClr val="0A3055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062472"/>
            <a:ext cx="11430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💡  DistilBERT trains ~190× slower than TF-IDF+LR.
    Classical models infer at 80 000+ samples/sec vs ~6 000 for DistilBERT.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0"/>
            <a:ext cx="11640312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Can we trust and act on the model's reasoning?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7B4"/>
                </a:solidFill>
              </a:rPr>
              <a:t>TF-IDF + LR  — Top Features</a:t>
            </a:r>
          </a:p>
        </p:txBody>
      </p:sp>
      <p:pic>
        <p:nvPicPr>
          <p:cNvPr id="6" name="Picture 5" descr="tfidf_lr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5394960" cy="3931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1097280"/>
            <a:ext cx="27432" cy="448056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0E"/>
                </a:solidFill>
              </a:rPr>
              <a:t>N-gram + SVM  — Top Features</a:t>
            </a:r>
          </a:p>
        </p:txBody>
      </p:sp>
      <p:pic>
        <p:nvPicPr>
          <p:cNvPr id="9" name="Picture 8" descr="ngram_svm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08760"/>
            <a:ext cx="5394960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5806440"/>
            <a:ext cx="11612880" cy="868680"/>
          </a:xfrm>
          <a:prstGeom prst="rect">
            <a:avLst/>
          </a:prstGeom>
          <a:solidFill>
            <a:srgbClr val="0A3055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879592"/>
            <a:ext cx="1143000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💡  Classical model weights are directly readable. Transformer explanations (attention / saliency) require heavy tooling and can be unstable.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0"/>
            <a:ext cx="11640312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Each model family has a distinct failure signature</a:t>
            </a:r>
          </a:p>
        </p:txBody>
      </p:sp>
      <p:pic>
        <p:nvPicPr>
          <p:cNvPr id="5" name="Picture 4" descr="error_taxonomy_cross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23760" y="1097280"/>
            <a:ext cx="4663440" cy="4297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188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7B4"/>
                </a:solidFill>
              </a:rPr>
              <a:t>Error Taxonomy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6459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• Negation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9019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  "not good"  →  misread as positive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2128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• Sarcasm / Irony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468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  surface positives hide negative 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77977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• Long-range deps.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0358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  BiLSTM struggles with &gt;50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34670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• Domain vocab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6027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  "killer feature" in tech ≠ positive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9136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• Typos / OOV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169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  CNN &amp; BERT degrade; char n-grams robust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480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• Mixed sentiment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7365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  all models struggle with neutral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806440"/>
            <a:ext cx="11612880" cy="868680"/>
          </a:xfrm>
          <a:prstGeom prst="rect">
            <a:avLst/>
          </a:prstGeom>
          <a:solidFill>
            <a:srgbClr val="0A3055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879592"/>
            <a:ext cx="1143000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</a:rPr>
              <a:t>💡  TF-IDF/LR fails on negation &amp; sarcasm. DistilBERT fails on domain vocab &amp; rare OOV. Char n-grams are most robust to typos.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0"/>
            <a:ext cx="11640312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Evidence-based model selection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4663440"/>
          </a:xfrm>
          <a:prstGeom prst="rect">
            <a:avLst/>
          </a:prstGeom>
          <a:solidFill>
            <a:srgbClr val="081828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822192" cy="731519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20700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Deployment Condition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188720"/>
            <a:ext cx="3822192" cy="731519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20700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Recommended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1188720"/>
            <a:ext cx="3822192" cy="731519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20700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" y="193852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&lt; 500 labeled 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92024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93852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TF-IDF + LR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92024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93852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Data-efficient, trains in ms, F1 matches BERT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5176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267004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Strong domain shift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5176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67004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Char n-gram or LR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265176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67004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Less surface-feature overfitting; -8% vs -37% drop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38328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" y="340156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Noisy / informal 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338328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340156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Char n-gram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338328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401568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Typo-robust by design; word-level models degrade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1480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9" y="4133087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Need actionable explanations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411480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133087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LR / SVM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4114800"/>
            <a:ext cx="3822192" cy="73151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4133087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Directly readable feature weights, no extra tooling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46320"/>
            <a:ext cx="3822192" cy="731519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9" y="4864607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Large data, clean domain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4846320"/>
            <a:ext cx="3822192" cy="731519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4864607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BERT / DistilBERT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4846320"/>
            <a:ext cx="3822192" cy="731519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4864607"/>
            <a:ext cx="3749040" cy="69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Global context pays off; achieves highest in-domain F1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852160"/>
            <a:ext cx="11612880" cy="640080"/>
          </a:xfrm>
          <a:prstGeom prst="rect">
            <a:avLst/>
          </a:prstGeom>
          <a:solidFill>
            <a:srgbClr val="0A3055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925312"/>
            <a:ext cx="114300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700"/>
                </a:solidFill>
              </a:rPr>
              <a:t>⭐  The right model depends on your constraints — not just benchmark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0"/>
            <a:ext cx="11640312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Three evidence-based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1521440" cy="1234440"/>
          </a:xfrm>
          <a:prstGeom prst="rect">
            <a:avLst/>
          </a:prstGeom>
          <a:solidFill>
            <a:srgbClr val="1A3A5C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02920" cy="12344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53312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</a:rPr>
              <a:t>Simple methods are competitive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TF-IDF+LR matches DistilBERT at 10% data and degrades only 8% under domain shift.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97480"/>
            <a:ext cx="11521440" cy="1234440"/>
          </a:xfrm>
          <a:prstGeom prst="rect">
            <a:avLst/>
          </a:prstGeom>
          <a:solidFill>
            <a:srgbClr val="1A3A5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697480"/>
            <a:ext cx="502920" cy="12344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2971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70632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CA02C"/>
                </a:solidFill>
              </a:rPr>
              <a:t>Transformers excel — when conditions are 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2783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BERT achieves peak in-domain accuracy, but drops 37.5% out-of-domain and trains 190× slower.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114800"/>
            <a:ext cx="11521440" cy="1234440"/>
          </a:xfrm>
          <a:prstGeom prst="rect">
            <a:avLst/>
          </a:prstGeom>
          <a:solidFill>
            <a:srgbClr val="1A3A5C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114800"/>
            <a:ext cx="502920" cy="12344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4389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187952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F0E"/>
                </a:solidFill>
              </a:rPr>
              <a:t>Model choice should follow deployment 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4515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Data size, robustness needs, latency budget, and interpretability requirements all matter more than leaderboard rank.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3492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⚖  The balance tips depending on context — not always toward Transformers.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0"/>
            <a:ext cx="11640312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Code, Reproducibility &amp; Q/A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7315200" cy="3657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77B4"/>
                </a:solidFill>
              </a:rPr>
              <a:t>📂 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6949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github.com/cpatel6/CS584-B-Project
Reproducible scripts · fixed random seeds · config YAML files
Single-command run:
  python scripts/run_pipeline.py --config configs/default.yaml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097280"/>
            <a:ext cx="4114800" cy="3657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1887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A02C"/>
                </a:solidFill>
              </a:rPr>
              <a:t>📋 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6916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✅  In-domain &amp; OOD accuracy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0391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✅  Data-regime scaling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38658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✅  Domain-shift drop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7340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✅  Robustness perturbation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0815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✅  Efficiency timing benchmarks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429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✅  Feature importance visualizations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7764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✅  Error taxonomy with examples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12394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✅  Decision framework (Slide 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11612880" cy="1371600"/>
          </a:xfrm>
          <a:prstGeom prst="rect">
            <a:avLst/>
          </a:prstGeom>
          <a:solidFill>
            <a:srgbClr val="0A3055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102352"/>
            <a:ext cx="114300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</a:rPr>
              <a:t>Questions?   ·   Thank you!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AA"/>
                </a:solidFill>
              </a:rPr>
              <a:t>CS 584-B  · Spring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